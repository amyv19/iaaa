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 type="wide"/>
  <p:notesSz cx="6858000" cy="9144000"/>
  <p:defaultTextStyle>
    <a:defPPr>
      <a:defRPr lang="es-MX"/>
    </a:defPPr>
  </p:defaultTextStyle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/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slide" Target="slides/slide2.xml"/>
<Relationship Id="rId4" Type="http://schemas.openxmlformats.org/officeDocument/2006/relationships/slide" Target="slides/slide3.xml"/>
<Relationship Id="rId5" Type="http://schemas.openxmlformats.org/officeDocument/2006/relationships/slide" Target="slides/slide4.xml"/>
<Relationship Id="rId6" Type="http://schemas.openxmlformats.org/officeDocument/2006/relationships/slide" Target="slides/slide5.xml"/>
<Relationship Id="rId7" Type="http://schemas.openxmlformats.org/officeDocument/2006/relationships/presProps" Target="presProps.xml"/>
<Relationship Id="rId8" Type="http://schemas.openxmlformats.org/officeDocument/2006/relationships/viewProps" Target="viewProps.xml"/>
<Relationship Id="rId9" Type="http://schemas.openxmlformats.org/officeDocument/2006/relationships/theme" Target="theme/theme1.xml"/>
<Relationship Id="rId10" Type="http://schemas.openxmlformats.org/officeDocument/2006/relationships/tableStyles" Target="tableStyles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C7A7B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594360" y="502920"/>
            <a:ext cx="768096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pPr algn="l"/>
            <a:r>
              <a:rPr lang="es-MX" sz="3400" b="1">
                <a:solidFill>
                  <a:srgbClr val="10233F"/>
                </a:solidFill>
                <a:latin typeface="Aptos Display"/>
              </a:rPr>
              <a:t>Predicción de precios Airbnb CDMX</a:t>
            </a:r>
            <a:endParaRPr lang="es-MX" sz="3400"/>
          </a:p>
        </p:txBody>
      </p:sp>
      <p:sp>
        <p:nvSpPr>
          <p:cNvPr id="4" name="subtitle"/>
          <p:cNvSpPr txBox="1"/>
          <p:nvPr/>
        </p:nvSpPr>
        <p:spPr>
          <a:xfrm>
            <a:off x="621792" y="1417320"/>
            <a:ext cx="81381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pPr algn="l"/>
            <a:r>
              <a:rPr lang="es-MX" sz="2000">
                <a:solidFill>
                  <a:srgbClr val="10233F"/>
                </a:solidFill>
                <a:latin typeface="Aptos"/>
              </a:rPr>
              <a:t>Modelo de Machine Learning para estimar precio por noche en MXN</a:t>
            </a:r>
            <a:endParaRPr lang="es-MX" sz="2000"/>
          </a:p>
        </p:txBody>
      </p:sp>
      <p:sp>
        <p:nvSpPr>
          <p:cNvPr id="5" name="summary"/>
          <p:cNvSpPr txBox="1"/>
          <p:nvPr/>
        </p:nvSpPr>
        <p:spPr>
          <a:xfrm>
            <a:off x="640080" y="2331720"/>
            <a:ext cx="5852160" cy="1371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pPr algn="l"/>
            <a:r>
              <a:rPr lang="es-MX" sz="1800">
                <a:solidFill>
                  <a:srgbClr val="10233F"/>
                </a:solidFill>
                <a:latin typeface="Aptos"/>
              </a:rPr>
              <a:t>Objetivo: apoyar decisiónes de precio con datos de alojamientos, ubicación, disponibilidad y tipo de propiedad.</a:t>
            </a:r>
            <a:endParaRPr lang="es-MX" sz="1800"/>
          </a:p>
          <a:p>
            <a:pPr algn="l"/>
            <a:r>
              <a:rPr lang="es-MX" sz="1800">
                <a:solidFill>
                  <a:srgbClr val="10233F"/>
                </a:solidFill>
                <a:latin typeface="Aptos"/>
              </a:rPr>
              <a:t>Entregable final: modelo entrenado + dashboard Flask interactivo.</a:t>
            </a:r>
            <a:endParaRPr lang="es-MX" sz="1800"/>
          </a:p>
        </p:txBody>
      </p:sp>
      <p:sp>
        <p:nvSpPr>
          <p:cNvPr id="6" name="metric-0"/>
          <p:cNvSpPr txBox="1"/>
          <p:nvPr/>
        </p:nvSpPr>
        <p:spPr>
          <a:xfrm>
            <a:off x="640080" y="4572000"/>
            <a:ext cx="2331720" cy="1143000"/>
          </a:xfrm>
          <a:prstGeom prst="roundRect">
            <a:avLst/>
          </a:prstGeom>
          <a:solidFill>
            <a:srgbClr val="10233F"/>
          </a:solidFill>
          <a:ln>
            <a:noFill/>
          </a:ln>
        </p:spPr>
        <p:txBody>
          <a:bodyPr wrap="square" anchor="ctr" lIns="91440" tIns="91440" rIns="91440" bIns="91440"/>
          <a:lstStyle/>
          <a:p>
            <a:pPr algn="ctr"/>
            <a:r>
              <a:rPr lang="es-MX" sz="2400" b="1">
                <a:solidFill>
                  <a:srgbClr val="FFF9F0"/>
                </a:solidFill>
                <a:latin typeface="Aptos"/>
              </a:rPr>
              <a:t>27,051</a:t>
            </a:r>
            <a:endParaRPr lang="es-MX" sz="2400"/>
          </a:p>
          <a:p>
            <a:pPr algn="ctr"/>
            <a:r>
              <a:rPr lang="es-MX" sz="1400">
                <a:solidFill>
                  <a:srgbClr val="FFF9F0"/>
                </a:solidFill>
                <a:latin typeface="Aptos"/>
              </a:rPr>
              <a:t>listings</a:t>
            </a:r>
            <a:endParaRPr lang="es-MX" sz="1400"/>
          </a:p>
        </p:txBody>
      </p:sp>
      <p:sp>
        <p:nvSpPr>
          <p:cNvPr id="7" name="metric-1"/>
          <p:cNvSpPr txBox="1"/>
          <p:nvPr/>
        </p:nvSpPr>
        <p:spPr>
          <a:xfrm>
            <a:off x="3429000" y="4572000"/>
            <a:ext cx="2331720" cy="1143000"/>
          </a:xfrm>
          <a:prstGeom prst="roundRect">
            <a:avLst/>
          </a:prstGeom>
          <a:solidFill>
            <a:srgbClr val="10233F"/>
          </a:solidFill>
          <a:ln>
            <a:noFill/>
          </a:ln>
        </p:spPr>
        <p:txBody>
          <a:bodyPr wrap="square" anchor="ctr" lIns="91440" tIns="91440" rIns="91440" bIns="91440"/>
          <a:lstStyle/>
          <a:p>
            <a:pPr algn="ctr"/>
            <a:r>
              <a:rPr lang="es-MX" sz="2400" b="1">
                <a:solidFill>
                  <a:srgbClr val="FFF9F0"/>
                </a:solidFill>
                <a:latin typeface="Aptos"/>
              </a:rPr>
              <a:t>16</a:t>
            </a:r>
            <a:endParaRPr lang="es-MX" sz="2400"/>
          </a:p>
          <a:p>
            <a:pPr algn="ctr"/>
            <a:r>
              <a:rPr lang="es-MX" sz="1400">
                <a:solidFill>
                  <a:srgbClr val="FFF9F0"/>
                </a:solidFill>
                <a:latin typeface="Aptos"/>
              </a:rPr>
              <a:t>alcaldías</a:t>
            </a:r>
            <a:endParaRPr lang="es-MX" sz="1400"/>
          </a:p>
        </p:txBody>
      </p:sp>
      <p:sp>
        <p:nvSpPr>
          <p:cNvPr id="8" name="metric-2"/>
          <p:cNvSpPr txBox="1"/>
          <p:nvPr/>
        </p:nvSpPr>
        <p:spPr>
          <a:xfrm>
            <a:off x="6217920" y="4572000"/>
            <a:ext cx="2331720" cy="1143000"/>
          </a:xfrm>
          <a:prstGeom prst="roundRect">
            <a:avLst/>
          </a:prstGeom>
          <a:solidFill>
            <a:srgbClr val="C65B2E"/>
          </a:solidFill>
          <a:ln>
            <a:noFill/>
          </a:ln>
        </p:spPr>
        <p:txBody>
          <a:bodyPr wrap="square" anchor="ctr" lIns="91440" tIns="91440" rIns="91440" bIns="91440"/>
          <a:lstStyle/>
          <a:p>
            <a:pPr algn="ctr"/>
            <a:r>
              <a:rPr lang="es-MX" sz="2400" b="1">
                <a:solidFill>
                  <a:srgbClr val="FFF9F0"/>
                </a:solidFill>
                <a:latin typeface="Aptos"/>
              </a:rPr>
              <a:t>R2 0.629</a:t>
            </a:r>
            <a:endParaRPr lang="es-MX" sz="2400"/>
          </a:p>
          <a:p>
            <a:pPr algn="ctr"/>
            <a:r>
              <a:rPr lang="es-MX" sz="1400">
                <a:solidFill>
                  <a:srgbClr val="FFF9F0"/>
                </a:solidFill>
                <a:latin typeface="Aptos"/>
              </a:rPr>
              <a:t>test</a:t>
            </a:r>
            <a:endParaRPr lang="es-MX" sz="1400"/>
          </a:p>
        </p:txBody>
      </p:sp>
      <p:sp>
        <p:nvSpPr>
          <p:cNvPr id="9" name="metric-3"/>
          <p:cNvSpPr txBox="1"/>
          <p:nvPr/>
        </p:nvSpPr>
        <p:spPr>
          <a:xfrm>
            <a:off x="9006839" y="4572000"/>
            <a:ext cx="2331720" cy="1143000"/>
          </a:xfrm>
          <a:prstGeom prst="roundRect">
            <a:avLst/>
          </a:prstGeom>
          <a:solidFill>
            <a:srgbClr val="10233F"/>
          </a:solidFill>
          <a:ln>
            <a:noFill/>
          </a:ln>
        </p:spPr>
        <p:txBody>
          <a:bodyPr wrap="square" anchor="ctr" lIns="91440" tIns="91440" rIns="91440" bIns="91440"/>
          <a:lstStyle/>
          <a:p>
            <a:pPr algn="ctr"/>
            <a:r>
              <a:rPr lang="es-MX" sz="2400" b="1">
                <a:solidFill>
                  <a:srgbClr val="FFF9F0"/>
                </a:solidFill>
                <a:latin typeface="Aptos"/>
              </a:rPr>
              <a:t>RMSE 376</a:t>
            </a:r>
            <a:endParaRPr lang="es-MX" sz="2400"/>
          </a:p>
          <a:p>
            <a:pPr algn="ctr"/>
            <a:r>
              <a:rPr lang="es-MX" sz="1400">
                <a:solidFill>
                  <a:srgbClr val="FFF9F0"/>
                </a:solidFill>
                <a:latin typeface="Aptos"/>
              </a:rPr>
              <a:t>MXN</a:t>
            </a:r>
            <a:endParaRPr lang="es-MX" sz="1400"/>
          </a:p>
        </p:txBody>
      </p:sp>
      <p:sp>
        <p:nvSpPr>
          <p:cNvPr id="10" name="footer"/>
          <p:cNvSpPr txBox="1"/>
          <p:nvPr/>
        </p:nvSpPr>
        <p:spPr>
          <a:xfrm>
            <a:off x="8321040" y="54864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pPr algn="ctr"/>
            <a:r>
              <a:rPr lang="es-MX" sz="1800" b="1">
                <a:solidFill>
                  <a:srgbClr val="C65B2E"/>
                </a:solidFill>
                <a:latin typeface="Aptos"/>
              </a:rPr>
              <a:t>5 diapositivas | 15 min max.</a:t>
            </a:r>
            <a:endParaRPr lang="es-MX"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ripe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D79A2B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40080" y="502920"/>
            <a:ext cx="694944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pPr algn="l"/>
            <a:r>
              <a:rPr lang="es-MX" sz="3200" b="1">
                <a:solidFill>
                  <a:srgbClr val="F7F0E6"/>
                </a:solidFill>
                <a:latin typeface="Aptos Display"/>
              </a:rPr>
              <a:t>Datos y preparacion</a:t>
            </a:r>
            <a:endParaRPr lang="es-MX" sz="3200"/>
          </a:p>
        </p:txBody>
      </p:sp>
      <p:sp>
        <p:nvSpPr>
          <p:cNvPr id="4" name="left-card"/>
          <p:cNvSpPr txBox="1"/>
          <p:nvPr/>
        </p:nvSpPr>
        <p:spPr>
          <a:xfrm>
            <a:off x="640080" y="1508760"/>
            <a:ext cx="5303520" cy="4160520"/>
          </a:xfrm>
          <a:prstGeom prst="roundRect">
            <a:avLst/>
          </a:prstGeom>
          <a:solidFill>
            <a:srgbClr val="18365C"/>
          </a:solidFill>
          <a:ln>
            <a:noFill/>
          </a:ln>
        </p:spPr>
        <p:txBody>
          <a:bodyPr wrap="square" anchor="t" lIns="91440" tIns="91440" rIns="91440" bIns="91440"/>
          <a:lstStyle/>
          <a:p>
            <a:pPr algn="l"/>
            <a:r>
              <a:rPr lang="es-MX" sz="2200" b="1">
                <a:solidFill>
                  <a:srgbClr val="F7F0E6"/>
                </a:solidFill>
                <a:latin typeface="Aptos"/>
              </a:rPr>
              <a:t>Limpieza aplicada</a:t>
            </a:r>
            <a:endParaRPr lang="es-MX" sz="2200"/>
          </a:p>
          <a:p>
            <a:pPr algn="l" marL="342900" indent="-228600">
              <a:buChar char="•"/>
            </a:pPr>
            <a:r>
              <a:rPr lang="es-MX" sz="1700">
                <a:solidFill>
                  <a:srgbClr val="F7F0E6"/>
                </a:solidFill>
                <a:latin typeface="Aptos"/>
              </a:rPr>
              <a:t>Se eliminaron URLs, IDs, texto libre, fechas administrativas y columnas redundantes.</a:t>
            </a:r>
            <a:endParaRPr lang="es-MX" sz="1700"/>
          </a:p>
          <a:p>
            <a:pPr algn="l" marL="342900" indent="-228600">
              <a:buChar char="•"/>
            </a:pPr>
            <a:r>
              <a:rPr lang="es-MX" sz="1700">
                <a:solidFill>
                  <a:srgbClr val="F7F0E6"/>
                </a:solidFill>
                <a:latin typeface="Aptos"/>
              </a:rPr>
              <a:t>`price` se convirtio a numerico y se quitaron valores nulos o no positivos.</a:t>
            </a:r>
            <a:endParaRPr lang="es-MX" sz="1700"/>
          </a:p>
          <a:p>
            <a:pPr algn="l" marL="342900" indent="-228600">
              <a:buChar char="•"/>
            </a:pPr>
            <a:r>
              <a:rPr lang="es-MX" sz="1700">
                <a:solidFill>
                  <a:srgbClr val="F7F0E6"/>
                </a:solidFill>
                <a:latin typeface="Aptos"/>
              </a:rPr>
              <a:t>Porcentajes y booleanos se transformaron a variables numéricas.</a:t>
            </a:r>
            <a:endParaRPr lang="es-MX" sz="1700"/>
          </a:p>
        </p:txBody>
      </p:sp>
      <p:sp>
        <p:nvSpPr>
          <p:cNvPr id="5" name="right-card"/>
          <p:cNvSpPr txBox="1"/>
          <p:nvPr/>
        </p:nvSpPr>
        <p:spPr>
          <a:xfrm>
            <a:off x="6263640" y="1508760"/>
            <a:ext cx="5257800" cy="4160520"/>
          </a:xfrm>
          <a:prstGeom prst="roundRect">
            <a:avLst/>
          </a:prstGeom>
          <a:solidFill>
            <a:srgbClr val="18365C"/>
          </a:solidFill>
          <a:ln>
            <a:noFill/>
          </a:ln>
        </p:spPr>
        <p:txBody>
          <a:bodyPr wrap="square" anchor="t" lIns="91440" tIns="91440" rIns="91440" bIns="91440"/>
          <a:lstStyle/>
          <a:p>
            <a:pPr algn="l"/>
            <a:r>
              <a:rPr lang="es-MX" sz="2200" b="1">
                <a:solidFill>
                  <a:srgbClr val="F7F0E6"/>
                </a:solidFill>
                <a:latin typeface="Aptos"/>
              </a:rPr>
              <a:t>Filtro de outliers</a:t>
            </a:r>
            <a:endParaRPr lang="es-MX" sz="2200"/>
          </a:p>
          <a:p>
            <a:pPr algn="l" marL="342900" indent="-228600">
              <a:buChar char="•"/>
            </a:pPr>
            <a:r>
              <a:rPr lang="es-MX" sz="1700">
                <a:solidFill>
                  <a:srgbClr val="F7F0E6"/>
                </a:solidFill>
                <a:latin typeface="Aptos"/>
              </a:rPr>
              <a:t>Registros con precio valido: 23,567.</a:t>
            </a:r>
            <a:endParaRPr lang="es-MX" sz="1700"/>
          </a:p>
          <a:p>
            <a:pPr algn="l" marL="342900" indent="-228600">
              <a:buChar char="•"/>
            </a:pPr>
            <a:r>
              <a:rPr lang="es-MX" sz="1700">
                <a:solidFill>
                  <a:srgbClr val="F7F0E6"/>
                </a:solidFill>
                <a:latin typeface="Aptos"/>
              </a:rPr>
              <a:t>Despues de regla IQR: 21,799.</a:t>
            </a:r>
            <a:endParaRPr lang="es-MX" sz="1700"/>
          </a:p>
          <a:p>
            <a:pPr algn="l" marL="342900" indent="-228600">
              <a:buChar char="•"/>
            </a:pPr>
            <a:r>
              <a:rPr lang="es-MX" sz="1700">
                <a:solidFill>
                  <a:srgbClr val="F7F0E6"/>
                </a:solidFill>
                <a:latin typeface="Aptos"/>
              </a:rPr>
              <a:t>Particion reproducible: 80% entrenamiento y 20% prueba.</a:t>
            </a:r>
            <a:endParaRPr lang="es-MX" sz="1700"/>
          </a:p>
        </p:txBody>
      </p:sp>
      <p:sp>
        <p:nvSpPr>
          <p:cNvPr id="6" name="note"/>
          <p:cNvSpPr txBox="1"/>
          <p:nvPr/>
        </p:nvSpPr>
        <p:spPr>
          <a:xfrm>
            <a:off x="749808" y="589788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pPr algn="l"/>
            <a:r>
              <a:rPr lang="es-MX" sz="1500">
                <a:solidFill>
                  <a:srgbClr val="E8D8BF"/>
                </a:solidFill>
                <a:latin typeface="Aptos"/>
              </a:rPr>
              <a:t>La limpieza reduce ruido y evita que precios extremos dominen el ajuste.</a:t>
            </a:r>
            <a:endParaRPr lang="es-MX" sz="1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C65B2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40080" y="457200"/>
            <a:ext cx="64008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pPr algn="l"/>
            <a:r>
              <a:rPr lang="es-MX" sz="3400" b="1">
                <a:solidFill>
                  <a:srgbClr val="10233F"/>
                </a:solidFill>
                <a:latin typeface="Aptos Display"/>
              </a:rPr>
              <a:t>Pipeline y modelos</a:t>
            </a:r>
            <a:endParaRPr lang="es-MX" sz="3400"/>
          </a:p>
        </p:txBody>
      </p:sp>
      <p:sp>
        <p:nvSpPr>
          <p:cNvPr id="4" name="pipeline"/>
          <p:cNvSpPr txBox="1"/>
          <p:nvPr/>
        </p:nvSpPr>
        <p:spPr>
          <a:xfrm>
            <a:off x="731520" y="1417320"/>
            <a:ext cx="10789920" cy="1143000"/>
          </a:xfrm>
          <a:prstGeom prst="roundRect">
            <a:avLst/>
          </a:prstGeom>
          <a:solidFill>
            <a:srgbClr val="E8D8BF"/>
          </a:solidFill>
          <a:ln>
            <a:noFill/>
          </a:ln>
        </p:spPr>
        <p:txBody>
          <a:bodyPr wrap="square" anchor="t" lIns="91440" tIns="91440" rIns="91440" bIns="91440"/>
          <a:lstStyle/>
          <a:p>
            <a:pPr algn="l"/>
            <a:r>
              <a:rPr lang="es-MX" sz="1800">
                <a:solidFill>
                  <a:srgbClr val="10233F"/>
                </a:solidFill>
                <a:latin typeface="Aptos"/>
              </a:rPr>
              <a:t>Preprocesamiento: mediana + escalado para numéricas; moda + OneHotEncoder para categóricas.</a:t>
            </a:r>
            <a:endParaRPr lang="es-MX" sz="1800"/>
          </a:p>
          <a:p>
            <a:pPr algn="l"/>
            <a:r>
              <a:rPr lang="es-MX" sz="1800">
                <a:solidFill>
                  <a:srgbClr val="10233F"/>
                </a:solidFill>
                <a:latin typeface="Aptos"/>
              </a:rPr>
              <a:t>Comparacion: lineal múltiple vs polinómica grado 2 y grado 3.</a:t>
            </a:r>
            <a:endParaRPr lang="es-MX" sz="1800"/>
          </a:p>
        </p:txBody>
      </p:sp>
      <p:sp>
        <p:nvSpPr>
          <p:cNvPr id="5" name="model-0"/>
          <p:cNvSpPr txBox="1"/>
          <p:nvPr/>
        </p:nvSpPr>
        <p:spPr>
          <a:xfrm>
            <a:off x="731520" y="3063240"/>
            <a:ext cx="3246120" cy="1965960"/>
          </a:xfrm>
          <a:prstGeom prst="roundRect">
            <a:avLst/>
          </a:prstGeom>
          <a:solidFill>
            <a:srgbClr val="2C7A7B"/>
          </a:solidFill>
          <a:ln>
            <a:noFill/>
          </a:ln>
        </p:spPr>
        <p:txBody>
          <a:bodyPr wrap="square" anchor="ctr" lIns="91440" tIns="91440" rIns="91440" bIns="91440"/>
          <a:lstStyle/>
          <a:p>
            <a:pPr algn="ctr"/>
            <a:r>
              <a:rPr lang="es-MX" sz="1900" b="1">
                <a:solidFill>
                  <a:srgbClr val="FFF9F0"/>
                </a:solidFill>
                <a:latin typeface="Aptos"/>
              </a:rPr>
              <a:t>Lineal multiple</a:t>
            </a:r>
            <a:endParaRPr lang="es-MX" sz="1900"/>
          </a:p>
          <a:p>
            <a:pPr algn="ctr"/>
            <a:r>
              <a:rPr lang="es-MX" sz="2100" b="1">
                <a:solidFill>
                  <a:srgbClr val="FFF9F0"/>
                </a:solidFill>
                <a:latin typeface="Aptos"/>
              </a:rPr>
              <a:t>R2 test 0.629</a:t>
            </a:r>
            <a:endParaRPr lang="es-MX" sz="2100"/>
          </a:p>
          <a:p>
            <a:pPr algn="ctr"/>
            <a:r>
              <a:rPr lang="es-MX" sz="1700">
                <a:solidFill>
                  <a:srgbClr val="FFF9F0"/>
                </a:solidFill>
                <a:latin typeface="Aptos"/>
              </a:rPr>
              <a:t>RMSE 376.42</a:t>
            </a:r>
            <a:endParaRPr lang="es-MX" sz="1700"/>
          </a:p>
        </p:txBody>
      </p:sp>
      <p:sp>
        <p:nvSpPr>
          <p:cNvPr id="6" name="model-1"/>
          <p:cNvSpPr txBox="1"/>
          <p:nvPr/>
        </p:nvSpPr>
        <p:spPr>
          <a:xfrm>
            <a:off x="4526280" y="3063240"/>
            <a:ext cx="3246120" cy="1965960"/>
          </a:xfrm>
          <a:prstGeom prst="roundRect">
            <a:avLst/>
          </a:prstGeom>
          <a:solidFill>
            <a:srgbClr val="10233F"/>
          </a:solidFill>
          <a:ln>
            <a:noFill/>
          </a:ln>
        </p:spPr>
        <p:txBody>
          <a:bodyPr wrap="square" anchor="ctr" lIns="91440" tIns="91440" rIns="91440" bIns="91440"/>
          <a:lstStyle/>
          <a:p>
            <a:pPr algn="ctr"/>
            <a:r>
              <a:rPr lang="es-MX" sz="1900" b="1">
                <a:solidFill>
                  <a:srgbClr val="FFF9F0"/>
                </a:solidFill>
                <a:latin typeface="Aptos"/>
              </a:rPr>
              <a:t>Polinomica G2</a:t>
            </a:r>
            <a:endParaRPr lang="es-MX" sz="1900"/>
          </a:p>
          <a:p>
            <a:pPr algn="ctr"/>
            <a:r>
              <a:rPr lang="es-MX" sz="2100" b="1">
                <a:solidFill>
                  <a:srgbClr val="FFF9F0"/>
                </a:solidFill>
                <a:latin typeface="Aptos"/>
              </a:rPr>
              <a:t>R2 test 0.453</a:t>
            </a:r>
            <a:endParaRPr lang="es-MX" sz="2100"/>
          </a:p>
          <a:p>
            <a:pPr algn="ctr"/>
            <a:r>
              <a:rPr lang="es-MX" sz="1700">
                <a:solidFill>
                  <a:srgbClr val="FFF9F0"/>
                </a:solidFill>
                <a:latin typeface="Aptos"/>
              </a:rPr>
              <a:t>RMSE 457.11</a:t>
            </a:r>
            <a:endParaRPr lang="es-MX" sz="1700"/>
          </a:p>
        </p:txBody>
      </p:sp>
      <p:sp>
        <p:nvSpPr>
          <p:cNvPr id="7" name="model-2"/>
          <p:cNvSpPr txBox="1"/>
          <p:nvPr/>
        </p:nvSpPr>
        <p:spPr>
          <a:xfrm>
            <a:off x="8321040" y="3063240"/>
            <a:ext cx="3246120" cy="1965960"/>
          </a:xfrm>
          <a:prstGeom prst="roundRect">
            <a:avLst/>
          </a:prstGeom>
          <a:solidFill>
            <a:srgbClr val="C65B2E"/>
          </a:solidFill>
          <a:ln>
            <a:noFill/>
          </a:ln>
        </p:spPr>
        <p:txBody>
          <a:bodyPr wrap="square" anchor="ctr" lIns="91440" tIns="91440" rIns="91440" bIns="91440"/>
          <a:lstStyle/>
          <a:p>
            <a:pPr algn="ctr"/>
            <a:r>
              <a:rPr lang="es-MX" sz="1900" b="1">
                <a:solidFill>
                  <a:srgbClr val="FFF9F0"/>
                </a:solidFill>
                <a:latin typeface="Aptos"/>
              </a:rPr>
              <a:t>Polinomica G3</a:t>
            </a:r>
            <a:endParaRPr lang="es-MX" sz="1900"/>
          </a:p>
          <a:p>
            <a:pPr algn="ctr"/>
            <a:r>
              <a:rPr lang="es-MX" sz="2100" b="1">
                <a:solidFill>
                  <a:srgbClr val="FFF9F0"/>
                </a:solidFill>
                <a:latin typeface="Aptos"/>
              </a:rPr>
              <a:t>R2 test 0.199</a:t>
            </a:r>
            <a:endParaRPr lang="es-MX" sz="2100"/>
          </a:p>
          <a:p>
            <a:pPr algn="ctr"/>
            <a:r>
              <a:rPr lang="es-MX" sz="1700">
                <a:solidFill>
                  <a:srgbClr val="FFF9F0"/>
                </a:solidFill>
                <a:latin typeface="Aptos"/>
              </a:rPr>
              <a:t>RMSE 553.20</a:t>
            </a:r>
            <a:endParaRPr lang="es-MX" sz="1700"/>
          </a:p>
        </p:txBody>
      </p:sp>
      <p:sp>
        <p:nvSpPr>
          <p:cNvPr id="8" name="decisión"/>
          <p:cNvSpPr txBox="1"/>
          <p:nvPr/>
        </p:nvSpPr>
        <p:spPr>
          <a:xfrm>
            <a:off x="731520" y="553212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pPr algn="l"/>
            <a:r>
              <a:rPr lang="es-MX" sz="2000" b="1">
                <a:solidFill>
                  <a:srgbClr val="C65B2E"/>
                </a:solidFill>
                <a:latin typeface="Aptos"/>
              </a:rPr>
              <a:t>Decision: se eligio regresión lineal múltiple por menor error y mejor generalizacion.</a:t>
            </a:r>
            <a:endParaRPr lang="es-MX"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502920"/>
            <a:ext cx="713232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pPr algn="l"/>
            <a:r>
              <a:rPr lang="es-MX" sz="3200" b="1">
                <a:solidFill>
                  <a:srgbClr val="F7F0E6"/>
                </a:solidFill>
                <a:latin typeface="Aptos Display"/>
              </a:rPr>
              <a:t>Resultados e interpretacion</a:t>
            </a:r>
            <a:endParaRPr lang="es-MX" sz="3200"/>
          </a:p>
        </p:txBody>
      </p:sp>
      <p:sp>
        <p:nvSpPr>
          <p:cNvPr id="3" name="left"/>
          <p:cNvSpPr txBox="1"/>
          <p:nvPr/>
        </p:nvSpPr>
        <p:spPr>
          <a:xfrm>
            <a:off x="685800" y="1417320"/>
            <a:ext cx="5166360" cy="4434840"/>
          </a:xfrm>
          <a:prstGeom prst="roundRect">
            <a:avLst/>
          </a:prstGeom>
          <a:solidFill>
            <a:srgbClr val="18365C"/>
          </a:solidFill>
          <a:ln>
            <a:noFill/>
          </a:ln>
        </p:spPr>
        <p:txBody>
          <a:bodyPr wrap="square" anchor="t" lIns="91440" tIns="91440" rIns="91440" bIns="91440"/>
          <a:lstStyle/>
          <a:p>
            <a:pPr algn="l"/>
            <a:r>
              <a:rPr lang="es-MX" sz="2200" b="1">
                <a:solidFill>
                  <a:srgbClr val="F7F0E6"/>
                </a:solidFill>
                <a:latin typeface="Aptos"/>
              </a:rPr>
              <a:t>Variables con mayor relacion</a:t>
            </a:r>
            <a:endParaRPr lang="es-MX" sz="2200"/>
          </a:p>
          <a:p>
            <a:pPr algn="l" marL="342900" indent="-228600">
              <a:buChar char="•"/>
            </a:pPr>
            <a:r>
              <a:rPr lang="es-MX" sz="1700">
                <a:solidFill>
                  <a:srgbClr val="F7F0E6"/>
                </a:solidFill>
                <a:latin typeface="Aptos"/>
              </a:rPr>
              <a:t>Capacidad: `accommodates`, `bedrooms`, `beds`, `bathrooms`.</a:t>
            </a:r>
            <a:endParaRPr lang="es-MX" sz="1700"/>
          </a:p>
          <a:p>
            <a:pPr algn="l" marL="342900" indent="-228600">
              <a:buChar char="•"/>
            </a:pPr>
            <a:r>
              <a:rPr lang="es-MX" sz="1700">
                <a:solidFill>
                  <a:srgbClr val="F7F0E6"/>
                </a:solidFill>
                <a:latin typeface="Aptos"/>
              </a:rPr>
              <a:t>Ingresos y disponibilidad tambien aportan senal predictiva.</a:t>
            </a:r>
            <a:endParaRPr lang="es-MX" sz="1700"/>
          </a:p>
          <a:p>
            <a:pPr algn="l" marL="342900" indent="-228600">
              <a:buChar char="•"/>
            </a:pPr>
            <a:r>
              <a:rPr lang="es-MX" sz="1700">
                <a:solidFill>
                  <a:srgbClr val="F7F0E6"/>
                </a:solidFill>
                <a:latin typeface="Aptos"/>
              </a:rPr>
              <a:t>Tipo de cuarto y tipo de propiedad explican diferencias fuertes.</a:t>
            </a:r>
            <a:endParaRPr lang="es-MX" sz="1700"/>
          </a:p>
        </p:txBody>
      </p:sp>
      <p:sp>
        <p:nvSpPr>
          <p:cNvPr id="4" name="right"/>
          <p:cNvSpPr txBox="1"/>
          <p:nvPr/>
        </p:nvSpPr>
        <p:spPr>
          <a:xfrm>
            <a:off x="6309360" y="1417320"/>
            <a:ext cx="5166360" cy="4434840"/>
          </a:xfrm>
          <a:prstGeom prst="roundRect">
            <a:avLst/>
          </a:prstGeom>
          <a:solidFill>
            <a:srgbClr val="18365C"/>
          </a:solidFill>
          <a:ln>
            <a:noFill/>
          </a:ln>
        </p:spPr>
        <p:txBody>
          <a:bodyPr wrap="square" anchor="t" lIns="91440" tIns="91440" rIns="91440" bIns="91440"/>
          <a:lstStyle/>
          <a:p>
            <a:pPr algn="l"/>
            <a:r>
              <a:rPr lang="es-MX" sz="2200" b="1">
                <a:solidFill>
                  <a:srgbClr val="F7F0E6"/>
                </a:solidFill>
                <a:latin typeface="Aptos"/>
              </a:rPr>
              <a:t>Ubicacion</a:t>
            </a:r>
            <a:endParaRPr lang="es-MX" sz="2200"/>
          </a:p>
          <a:p>
            <a:pPr algn="l" marL="342900" indent="-228600">
              <a:buChar char="•"/>
            </a:pPr>
            <a:r>
              <a:rPr lang="es-MX" sz="1700">
                <a:solidFill>
                  <a:srgbClr val="F7F0E6"/>
                </a:solidFill>
                <a:latin typeface="Aptos"/>
              </a:rPr>
              <a:t>Mayor mediana: Miguel Hidalgo, Cuajimalpa y Cuauhtémoc.</a:t>
            </a:r>
            <a:endParaRPr lang="es-MX" sz="1700"/>
          </a:p>
          <a:p>
            <a:pPr algn="l" marL="342900" indent="-228600">
              <a:buChar char="•"/>
            </a:pPr>
            <a:r>
              <a:rPr lang="es-MX" sz="1700">
                <a:solidFill>
                  <a:srgbClr val="F7F0E6"/>
                </a:solidFill>
                <a:latin typeface="Aptos"/>
              </a:rPr>
              <a:t>El modelo captura diferencias por alcaldia con variables categóricas.</a:t>
            </a:r>
            <a:endParaRPr lang="es-MX" sz="1700"/>
          </a:p>
          <a:p>
            <a:pPr algn="l" marL="342900" indent="-228600">
              <a:buChar char="•"/>
            </a:pPr>
            <a:r>
              <a:rPr lang="es-MX" sz="1700">
                <a:solidFill>
                  <a:srgbClr val="F7F0E6"/>
                </a:solidFill>
                <a:latin typeface="Aptos"/>
              </a:rPr>
              <a:t>Riesgo: precios premium o muy atipicos quedan fuera del rango modelado.</a:t>
            </a:r>
            <a:endParaRPr lang="es-MX" sz="1700"/>
          </a:p>
        </p:txBody>
      </p:sp>
      <p:sp>
        <p:nvSpPr>
          <p:cNvPr id="5" name="bottom-line"/>
          <p:cNvSpPr/>
          <p:nvPr/>
        </p:nvSpPr>
        <p:spPr>
          <a:xfrm>
            <a:off x="640080" y="6080760"/>
            <a:ext cx="10881360" cy="73152"/>
          </a:xfrm>
          <a:prstGeom prst="rect">
            <a:avLst/>
          </a:prstGeom>
          <a:solidFill>
            <a:srgbClr val="D79A2B"/>
          </a:solid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65B2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40080" y="457200"/>
            <a:ext cx="768096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pPr algn="l"/>
            <a:r>
              <a:rPr lang="es-MX" sz="3400" b="1">
                <a:solidFill>
                  <a:srgbClr val="10233F"/>
                </a:solidFill>
                <a:latin typeface="Aptos Display"/>
              </a:rPr>
              <a:t>Producto final y guion de 15 min</a:t>
            </a:r>
            <a:endParaRPr lang="es-MX" sz="3400"/>
          </a:p>
        </p:txBody>
      </p:sp>
      <p:sp>
        <p:nvSpPr>
          <p:cNvPr id="4" name="product"/>
          <p:cNvSpPr txBox="1"/>
          <p:nvPr/>
        </p:nvSpPr>
        <p:spPr>
          <a:xfrm>
            <a:off x="685800" y="1325880"/>
            <a:ext cx="5120640" cy="4434840"/>
          </a:xfrm>
          <a:prstGeom prst="roundRect">
            <a:avLst/>
          </a:prstGeom>
          <a:solidFill>
            <a:srgbClr val="E8D8BF"/>
          </a:solidFill>
          <a:ln>
            <a:noFill/>
          </a:ln>
        </p:spPr>
        <p:txBody>
          <a:bodyPr wrap="square" anchor="t" lIns="91440" tIns="91440" rIns="91440" bIns="91440"/>
          <a:lstStyle/>
          <a:p>
            <a:pPr algn="l"/>
            <a:r>
              <a:rPr lang="es-MX" sz="2200" b="1">
                <a:solidFill>
                  <a:srgbClr val="10233F"/>
                </a:solidFill>
                <a:latin typeface="Aptos"/>
              </a:rPr>
              <a:t>Entregables tecnicos</a:t>
            </a:r>
            <a:endParaRPr lang="es-MX" sz="2200"/>
          </a:p>
          <a:p>
            <a:pPr algn="l" marL="342900" indent="-228600">
              <a:buChar char="•"/>
            </a:pPr>
            <a:r>
              <a:rPr lang="es-MX" sz="1700">
                <a:solidFill>
                  <a:srgbClr val="10233F"/>
                </a:solidFill>
                <a:latin typeface="Aptos"/>
              </a:rPr>
              <a:t>Notebook reproducible del desarrollo del modelo.</a:t>
            </a:r>
            <a:endParaRPr lang="es-MX" sz="1700"/>
          </a:p>
          <a:p>
            <a:pPr algn="l" marL="342900" indent="-228600">
              <a:buChar char="•"/>
            </a:pPr>
            <a:r>
              <a:rPr lang="es-MX" sz="1700">
                <a:solidFill>
                  <a:srgbClr val="10233F"/>
                </a:solidFill>
                <a:latin typeface="Aptos"/>
              </a:rPr>
              <a:t>Modelo `modelo_lineal.pkl` integrado al dashboard Flask.</a:t>
            </a:r>
            <a:endParaRPr lang="es-MX" sz="1700"/>
          </a:p>
          <a:p>
            <a:pPr algn="l" marL="342900" indent="-228600">
              <a:buChar char="•"/>
            </a:pPr>
            <a:r>
              <a:rPr lang="es-MX" sz="1700">
                <a:solidFill>
                  <a:srgbClr val="10233F"/>
                </a:solidFill>
                <a:latin typeface="Aptos"/>
              </a:rPr>
              <a:t>Visualizaciones: correlacion, boxplot, scatter, coeficientes, mapa y ranking.</a:t>
            </a:r>
            <a:endParaRPr lang="es-MX" sz="1700"/>
          </a:p>
        </p:txBody>
      </p:sp>
      <p:sp>
        <p:nvSpPr>
          <p:cNvPr id="5" name="timing"/>
          <p:cNvSpPr txBox="1"/>
          <p:nvPr/>
        </p:nvSpPr>
        <p:spPr>
          <a:xfrm>
            <a:off x="6172200" y="1325880"/>
            <a:ext cx="5303520" cy="4434840"/>
          </a:xfrm>
          <a:prstGeom prst="roundRect">
            <a:avLst/>
          </a:prstGeom>
          <a:solidFill>
            <a:srgbClr val="FFF9F0"/>
          </a:solidFill>
          <a:ln>
            <a:noFill/>
          </a:ln>
        </p:spPr>
        <p:txBody>
          <a:bodyPr wrap="square" anchor="t" lIns="91440" tIns="91440" rIns="91440" bIns="91440"/>
          <a:lstStyle/>
          <a:p>
            <a:pPr algn="l"/>
            <a:r>
              <a:rPr lang="es-MX" sz="2200" b="1">
                <a:solidFill>
                  <a:srgbClr val="10233F"/>
                </a:solidFill>
                <a:latin typeface="Aptos"/>
              </a:rPr>
              <a:t>Ritmo sugerido</a:t>
            </a:r>
            <a:endParaRPr lang="es-MX" sz="2200"/>
          </a:p>
          <a:p>
            <a:pPr algn="l" marL="342900" indent="-228600">
              <a:buChar char="•"/>
            </a:pPr>
            <a:r>
              <a:rPr lang="es-MX" sz="1700">
                <a:solidFill>
                  <a:srgbClr val="10233F"/>
                </a:solidFill>
                <a:latin typeface="Aptos"/>
              </a:rPr>
              <a:t>Contexto y objetivo: 2 min.</a:t>
            </a:r>
            <a:endParaRPr lang="es-MX" sz="1700"/>
          </a:p>
          <a:p>
            <a:pPr algn="l" marL="342900" indent="-228600">
              <a:buChar char="•"/>
            </a:pPr>
            <a:r>
              <a:rPr lang="es-MX" sz="1700">
                <a:solidFill>
                  <a:srgbClr val="10233F"/>
                </a:solidFill>
                <a:latin typeface="Aptos"/>
              </a:rPr>
              <a:t>Datos y limpieza: 3 min.</a:t>
            </a:r>
            <a:endParaRPr lang="es-MX" sz="1700"/>
          </a:p>
          <a:p>
            <a:pPr algn="l" marL="342900" indent="-228600">
              <a:buChar char="•"/>
            </a:pPr>
            <a:r>
              <a:rPr lang="es-MX" sz="1700">
                <a:solidFill>
                  <a:srgbClr val="10233F"/>
                </a:solidFill>
                <a:latin typeface="Aptos"/>
              </a:rPr>
              <a:t>Modelado y resultados: 6 min.</a:t>
            </a:r>
            <a:endParaRPr lang="es-MX" sz="1700"/>
          </a:p>
          <a:p>
            <a:pPr algn="l" marL="342900" indent="-228600">
              <a:buChar char="•"/>
            </a:pPr>
            <a:r>
              <a:rPr lang="es-MX" sz="1700">
                <a:solidFill>
                  <a:srgbClr val="10233F"/>
                </a:solidFill>
                <a:latin typeface="Aptos"/>
              </a:rPr>
              <a:t>Dashboard, limites y cierre: 4 min.</a:t>
            </a:r>
            <a:endParaRPr lang="es-MX" sz="1700"/>
          </a:p>
        </p:txBody>
      </p:sp>
      <p:sp>
        <p:nvSpPr>
          <p:cNvPr id="6" name="closing"/>
          <p:cNvSpPr txBox="1"/>
          <p:nvPr/>
        </p:nvSpPr>
        <p:spPr>
          <a:xfrm>
            <a:off x="685800" y="5989320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pPr algn="l"/>
            <a:r>
              <a:rPr lang="es-MX" sz="1800" b="1">
                <a:solidFill>
                  <a:srgbClr val="2C7A7B"/>
                </a:solidFill>
                <a:latin typeface="Aptos"/>
              </a:rPr>
              <a:t>Mensaje clave: un modelo simple, explicable y desplegable rindio mejor que alternativas más complejas.</a:t>
            </a:r>
            <a:endParaRPr lang="es-MX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rbnb CDMX">
  <a:themeElements>
    <a:clrScheme name="Coil">
      <a:dk1>
        <a:srgbClr val="10233F"/>
      </a:dk1>
      <a:lt1>
        <a:srgbClr val="F7F0E6"/>
      </a:lt1>
      <a:dk2>
        <a:srgbClr val="18365C"/>
      </a:dk2>
      <a:lt2>
        <a:srgbClr val="FFF9F0"/>
      </a:lt2>
      <a:accent1>
        <a:srgbClr val="2C7A7B"/>
      </a:accent1>
      <a:accent2>
        <a:srgbClr val="C65B2E"/>
      </a:accent2>
      <a:accent3>
        <a:srgbClr val="D79A2B"/>
      </a:accent3>
      <a:accent4>
        <a:srgbClr val="E8D8BF"/>
      </a:accent4>
      <a:accent5>
        <a:srgbClr val="628B48"/>
      </a:accent5>
      <a:accent6>
        <a:srgbClr val="4C6A92"/>
      </a:accent6>
      <a:hlink>
        <a:srgbClr val="2C7A7B"/>
      </a:hlink>
      <a:folHlink>
        <a:srgbClr val="C65B2E"/>
      </a:folHlink>
    </a:clrScheme>
    <a:fontScheme name="Aptos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Simple">
      <a:fillStyleLst>
        <a:solidFill>
          <a:schemeClr val="phClr"/>
        </a:solidFill>
        <a:gradFill rotWithShape="1">
          <a:gsLst>
            <a:gs pos="0">
              <a:schemeClr val="phClr"/>
            </a:gs>
            <a:gs pos="100000">
              <a:schemeClr val="phClr"/>
            </a:gs>
          </a:gsLst>
          <a:lin ang="5400000" scaled="0"/>
        </a:gradFill>
        <a:gradFill rotWithShape="1">
          <a:gsLst>
            <a:gs pos="0">
              <a:schemeClr val="phClr"/>
            </a:gs>
            <a:gs pos="100000">
              <a:schemeClr val="phClr"/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5</Slides>
  <Notes>0</Notes>
  <HiddenSlides>0</HiddenSlides>
  <MMClips>0</MMClips>
  <ScaleCrop>false</ScaleCrop>
  <HeadingPairs>
    <vt:vector size="2" baseType="variant">
      <vt:variant>
        <vt:lpstr>Theme</vt:lpstr>
      </vt:variant>
      <vt:variant>
        <vt:i4>1</vt:i4>
      </vt:variant>
    </vt:vector>
  </HeadingPairs>
  <TitlesOfParts>
    <vt:vector size="1" baseType="lpstr">
      <vt:lpstr>Airbnb CDMX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Predicción de precios Airbnb CDMX</dc:title>
  <dc:creator>Codex</dc:creator>
  <cp:lastModifiedBy>Codex</cp:lastModifiedBy>
  <dcterms:created xsi:type="dcterms:W3CDTF">2026-04-23T06:31:47Z</dcterms:created>
  <dcterms:modified xsi:type="dcterms:W3CDTF">2026-04-23T06:31:47Z</dcterms:modified>
</cp:coreProperties>
</file>